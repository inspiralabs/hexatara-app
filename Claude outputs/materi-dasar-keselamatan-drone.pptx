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Materi Dasar Keselamatan Penerbangan Drone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CCCCCC"/>
                </a:solidFill>
              </a:rPr>
              <a:t>Dokumen contoh (dummy) — Hexatara Free Track Certification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</a:rPr>
              <a:t>Batas Ketinggian Terbang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1A2E"/>
                </a:solidFill>
              </a:defRPr>
            </a:pPr>
            <a:r>
              <a:t>•  Ketinggian maksimum umum: 120 meter (400 kaki) di wilayah udara tidak terkontrol</a:t>
            </a:r>
          </a:p>
          <a:p>
            <a:pPr>
              <a:spcAft>
                <a:spcPts val="1400"/>
              </a:spcAft>
              <a:defRPr sz="2000">
                <a:solidFill>
                  <a:srgbClr val="1A1A2E"/>
                </a:solidFill>
              </a:defRPr>
            </a:pPr>
            <a:r>
              <a:t>•  Berlaku tanpa izin khusus dari otoritas penerbangan sipil</a:t>
            </a:r>
          </a:p>
          <a:p>
            <a:pPr>
              <a:spcAft>
                <a:spcPts val="1400"/>
              </a:spcAft>
              <a:defRPr sz="2000">
                <a:solidFill>
                  <a:srgbClr val="1A1A2E"/>
                </a:solidFill>
              </a:defRPr>
            </a:pPr>
            <a:r>
              <a:t>•  Melebihi batas ini berisiko mengganggu lalu lintas udara berawak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</a:rPr>
              <a:t>Persiapan Sebelum Terbang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1A2E"/>
                </a:solidFill>
              </a:defRPr>
            </a:pPr>
            <a:r>
              <a:t>•  Periksa NOTAM dan zona larangan terbang (no-fly zone)</a:t>
            </a:r>
          </a:p>
          <a:p>
            <a:pPr>
              <a:spcAft>
                <a:spcPts val="1400"/>
              </a:spcAft>
              <a:defRPr sz="2000">
                <a:solidFill>
                  <a:srgbClr val="1A1A2E"/>
                </a:solidFill>
              </a:defRPr>
            </a:pPr>
            <a:r>
              <a:t>•  Pastikan baterai drone dan pengendali terisi penuh</a:t>
            </a:r>
          </a:p>
          <a:p>
            <a:pPr>
              <a:spcAft>
                <a:spcPts val="1400"/>
              </a:spcAft>
              <a:defRPr sz="2000">
                <a:solidFill>
                  <a:srgbClr val="1A1A2E"/>
                </a:solidFill>
              </a:defRPr>
            </a:pPr>
            <a:r>
              <a:t>•  Periksa baling-baling, firmware, dan kalibrasi kompas</a:t>
            </a:r>
          </a:p>
          <a:p>
            <a:pPr>
              <a:spcAft>
                <a:spcPts val="1400"/>
              </a:spcAft>
              <a:defRPr sz="2000">
                <a:solidFill>
                  <a:srgbClr val="1A1A2E"/>
                </a:solidFill>
              </a:defRPr>
            </a:pPr>
            <a:r>
              <a:t>•  Konfirmasi kondisi cuaca — hindari hujan deras dan angin kencang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</a:rPr>
              <a:t>Fitur Return to Home (RTH)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1A2E"/>
                </a:solidFill>
              </a:defRPr>
            </a:pPr>
            <a:r>
              <a:t>•  Membawa drone kembali otomatis ke titik lepas landas</a:t>
            </a:r>
          </a:p>
          <a:p>
            <a:pPr>
              <a:spcAft>
                <a:spcPts val="1400"/>
              </a:spcAft>
              <a:defRPr sz="2000">
                <a:solidFill>
                  <a:srgbClr val="1A1A2E"/>
                </a:solidFill>
              </a:defRPr>
            </a:pPr>
            <a:r>
              <a:t>•  Aktif saat sinyal kendali melemah atau baterai rendah</a:t>
            </a:r>
          </a:p>
          <a:p>
            <a:pPr>
              <a:spcAft>
                <a:spcPts val="1400"/>
              </a:spcAft>
              <a:defRPr sz="2000">
                <a:solidFill>
                  <a:srgbClr val="1A1A2E"/>
                </a:solidFill>
              </a:defRPr>
            </a:pPr>
            <a:r>
              <a:t>•  Pilot tetap perlu memantau home point sepanjang penerbangan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</a:rPr>
              <a:t>Tanggung Jawab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1A2E"/>
                </a:solidFill>
              </a:defRPr>
            </a:pPr>
            <a:r>
              <a:t>•  Pilot bertanggung jawab penuh atas keselamatan penerbangan</a:t>
            </a:r>
          </a:p>
          <a:p>
            <a:pPr>
              <a:spcAft>
                <a:spcPts val="1400"/>
              </a:spcAft>
              <a:defRPr sz="2000">
                <a:solidFill>
                  <a:srgbClr val="1A1A2E"/>
                </a:solidFill>
              </a:defRPr>
            </a:pPr>
            <a:r>
              <a:t>•  Memastikan area operasi aman sebelum dan selama terbang</a:t>
            </a:r>
          </a:p>
          <a:p>
            <a:pPr>
              <a:spcAft>
                <a:spcPts val="1400"/>
              </a:spcAft>
              <a:defRPr sz="2000">
                <a:solidFill>
                  <a:srgbClr val="1A1A2E"/>
                </a:solidFill>
              </a:defRPr>
            </a:pPr>
            <a:r>
              <a:t>•  Mematuhi regulasi yang berlaku di wilayah operasi</a:t>
            </a:r>
          </a:p>
          <a:p>
            <a:pPr>
              <a:spcAft>
                <a:spcPts val="1400"/>
              </a:spcAft>
              <a:defRPr sz="2000">
                <a:solidFill>
                  <a:srgbClr val="1A1A2E"/>
                </a:solidFill>
              </a:defRPr>
            </a:pPr>
            <a:r>
              <a:t>•  Menghentikan penerbangan bila kondisi tidak memungkinkan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Materi contoh (dummy) untuk pengujian sistem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